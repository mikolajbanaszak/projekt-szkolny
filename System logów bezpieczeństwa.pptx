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0" d="100"/>
          <a:sy n="60" d="100"/>
        </p:scale>
        <p:origin x="96" y="11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B42E49-242E-45EB-82A5-FC71744B2E50}" type="datetimeFigureOut">
              <a:rPr lang="pl-PL" smtClean="0"/>
              <a:t>17.03.2026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1114028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B42E49-242E-45EB-82A5-FC71744B2E50}" type="datetimeFigureOut">
              <a:rPr lang="pl-PL" smtClean="0"/>
              <a:t>17.03.2026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216867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B42E49-242E-45EB-82A5-FC71744B2E50}" type="datetimeFigureOut">
              <a:rPr lang="pl-PL" smtClean="0"/>
              <a:t>17.03.2026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25214088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514905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B42E49-242E-45EB-82A5-FC71744B2E50}" type="datetimeFigureOut">
              <a:rPr lang="pl-PL" smtClean="0"/>
              <a:t>17.03.2026</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26048786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B42E49-242E-45EB-82A5-FC71744B2E50}" type="datetimeFigureOut">
              <a:rPr lang="pl-PL" smtClean="0"/>
              <a:t>17.03.2026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3779312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B42E49-242E-45EB-82A5-FC71744B2E50}" type="datetimeFigureOut">
              <a:rPr lang="pl-PL" smtClean="0"/>
              <a:t>17.03.2026</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2690778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30185964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33664768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3158914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22744768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030045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5B42E49-242E-45EB-82A5-FC71744B2E50}" type="datetimeFigureOut">
              <a:rPr lang="pl-PL" smtClean="0"/>
              <a:t>17.03.2026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12002027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75B42E49-242E-45EB-82A5-FC71744B2E50}" type="datetimeFigureOut">
              <a:rPr lang="pl-PL" smtClean="0"/>
              <a:t>17.03.2026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10912578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75B42E49-242E-45EB-82A5-FC71744B2E50}" type="datetimeFigureOut">
              <a:rPr lang="pl-PL" smtClean="0"/>
              <a:t>17.03.2026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13299170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B42E49-242E-45EB-82A5-FC71744B2E50}" type="datetimeFigureOut">
              <a:rPr lang="pl-PL" smtClean="0"/>
              <a:t>17.03.2026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28881134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B42E49-242E-45EB-82A5-FC71744B2E50}" type="datetimeFigureOut">
              <a:rPr lang="pl-PL" smtClean="0"/>
              <a:t>17.03.2026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7C9271D4-5C70-43F7-A527-D65BB7C84E23}" type="slidenum">
              <a:rPr lang="pl-PL" smtClean="0"/>
              <a:t>‹#›</a:t>
            </a:fld>
            <a:endParaRPr lang="pl-PL"/>
          </a:p>
        </p:txBody>
      </p:sp>
    </p:spTree>
    <p:extLst>
      <p:ext uri="{BB962C8B-B14F-4D97-AF65-F5344CB8AC3E}">
        <p14:creationId xmlns:p14="http://schemas.microsoft.com/office/powerpoint/2010/main" val="3754120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75B42E49-242E-45EB-82A5-FC71744B2E50}" type="datetimeFigureOut">
              <a:rPr lang="pl-PL" smtClean="0"/>
              <a:t>17.03.2026</a:t>
            </a:fld>
            <a:endParaRPr lang="pl-PL"/>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pl-PL"/>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7C9271D4-5C70-43F7-A527-D65BB7C84E23}" type="slidenum">
              <a:rPr lang="pl-PL" smtClean="0"/>
              <a:t>‹#›</a:t>
            </a:fld>
            <a:endParaRPr lang="pl-PL"/>
          </a:p>
        </p:txBody>
      </p:sp>
    </p:spTree>
    <p:extLst>
      <p:ext uri="{BB962C8B-B14F-4D97-AF65-F5344CB8AC3E}">
        <p14:creationId xmlns:p14="http://schemas.microsoft.com/office/powerpoint/2010/main" val="85859872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3000" t="-4000" r="-25000" b="-7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251AD-94AB-1A0D-7DD8-B1D4C1C77580}"/>
              </a:ext>
            </a:extLst>
          </p:cNvPr>
          <p:cNvSpPr>
            <a:spLocks noGrp="1"/>
          </p:cNvSpPr>
          <p:nvPr>
            <p:ph type="ctrTitle"/>
          </p:nvPr>
        </p:nvSpPr>
        <p:spPr>
          <a:xfrm>
            <a:off x="726215" y="540327"/>
            <a:ext cx="11061700" cy="3192463"/>
          </a:xfr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a:normAutofit fontScale="90000"/>
          </a:bodyPr>
          <a:lstStyle/>
          <a:p>
            <a:r>
              <a:rPr lang="pl-PL" dirty="0"/>
              <a:t>System logów bezpieczeństwa</a:t>
            </a:r>
            <a:br>
              <a:rPr lang="pl-PL" dirty="0"/>
            </a:br>
            <a:r>
              <a:rPr lang="pl-PL" dirty="0"/>
              <a:t>+</a:t>
            </a:r>
            <a:br>
              <a:rPr lang="pl-PL" dirty="0"/>
            </a:br>
            <a:r>
              <a:rPr lang="pl-PL" dirty="0"/>
              <a:t>Wykrywanie nietypowych zachowań użytkownika</a:t>
            </a:r>
          </a:p>
        </p:txBody>
      </p:sp>
      <p:sp>
        <p:nvSpPr>
          <p:cNvPr id="3" name="Subtitle 2">
            <a:extLst>
              <a:ext uri="{FF2B5EF4-FFF2-40B4-BE49-F238E27FC236}">
                <a16:creationId xmlns:a16="http://schemas.microsoft.com/office/drawing/2014/main" id="{B5F3EA65-EF1F-832D-EDF1-70F66C007BE3}"/>
              </a:ext>
            </a:extLst>
          </p:cNvPr>
          <p:cNvSpPr>
            <a:spLocks noGrp="1"/>
          </p:cNvSpPr>
          <p:nvPr>
            <p:ph type="subTitle" idx="1"/>
          </p:nvPr>
        </p:nvSpPr>
        <p:spPr>
          <a:xfrm>
            <a:off x="4003931" y="4590288"/>
            <a:ext cx="4664582" cy="1931278"/>
          </a:xfr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a:lstStyle/>
          <a:p>
            <a:endParaRPr lang="pl-PL" dirty="0"/>
          </a:p>
          <a:p>
            <a:r>
              <a:rPr lang="pl-PL" dirty="0"/>
              <a:t>Maciej Kamiński</a:t>
            </a:r>
            <a:br>
              <a:rPr lang="pl-PL" dirty="0"/>
            </a:br>
            <a:r>
              <a:rPr lang="pl-PL" dirty="0"/>
              <a:t>Mikołaj Banszak</a:t>
            </a:r>
            <a:br>
              <a:rPr lang="pl-PL" dirty="0"/>
            </a:br>
            <a:r>
              <a:rPr lang="pl-PL" dirty="0"/>
              <a:t>Mateusz Janiszewski</a:t>
            </a:r>
          </a:p>
        </p:txBody>
      </p:sp>
    </p:spTree>
    <p:extLst>
      <p:ext uri="{BB962C8B-B14F-4D97-AF65-F5344CB8AC3E}">
        <p14:creationId xmlns:p14="http://schemas.microsoft.com/office/powerpoint/2010/main" val="706598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A1E6-722C-056C-5C20-F726B4E13512}"/>
              </a:ext>
            </a:extLst>
          </p:cNvPr>
          <p:cNvSpPr>
            <a:spLocks noGrp="1"/>
          </p:cNvSpPr>
          <p:nvPr>
            <p:ph type="title"/>
          </p:nvPr>
        </p:nvSpPr>
        <p:spPr>
          <a:xfrm>
            <a:off x="311284" y="153041"/>
            <a:ext cx="10515600" cy="1325563"/>
          </a:xfrm>
        </p:spPr>
        <p:txBody>
          <a:bodyPr/>
          <a:lstStyle/>
          <a:p>
            <a:r>
              <a:rPr lang="pl-PL" dirty="0"/>
              <a:t>System logów bezpieczeństwa</a:t>
            </a:r>
          </a:p>
        </p:txBody>
      </p:sp>
      <p:sp>
        <p:nvSpPr>
          <p:cNvPr id="3" name="Content Placeholder 2">
            <a:extLst>
              <a:ext uri="{FF2B5EF4-FFF2-40B4-BE49-F238E27FC236}">
                <a16:creationId xmlns:a16="http://schemas.microsoft.com/office/drawing/2014/main" id="{451CDF6B-17F9-06EE-CDED-EF0A4CFC4CD0}"/>
              </a:ext>
            </a:extLst>
          </p:cNvPr>
          <p:cNvSpPr>
            <a:spLocks noGrp="1"/>
          </p:cNvSpPr>
          <p:nvPr>
            <p:ph idx="1"/>
          </p:nvPr>
        </p:nvSpPr>
        <p:spPr>
          <a:xfrm>
            <a:off x="311284" y="1478604"/>
            <a:ext cx="11575916" cy="5379396"/>
          </a:xfrm>
        </p:spPr>
        <p:txBody>
          <a:bodyPr>
            <a:normAutofit/>
          </a:bodyPr>
          <a:lstStyle/>
          <a:p>
            <a:pPr marL="0" indent="0">
              <a:buNone/>
            </a:pPr>
            <a:r>
              <a:rPr lang="pl-PL" b="1" dirty="0"/>
              <a:t>SIEM</a:t>
            </a:r>
            <a:r>
              <a:rPr lang="pl-PL" dirty="0"/>
              <a:t> (Security Information and Event Management) to zaawansowane oprogramowanie służące do centralnego gromadzenia, korelacji i analizy logów bezpieczeństwa</a:t>
            </a:r>
          </a:p>
          <a:p>
            <a:pPr marL="0" indent="0">
              <a:buNone/>
            </a:pPr>
            <a:endParaRPr lang="pl-PL" dirty="0"/>
          </a:p>
          <a:p>
            <a:pPr marL="0" indent="0">
              <a:buNone/>
            </a:pPr>
            <a:r>
              <a:rPr lang="pl-PL" dirty="0"/>
              <a:t>System może również generować raporty i dashboardy, które pomagają w analizie trendów bezpieczeństwa:</a:t>
            </a:r>
          </a:p>
          <a:p>
            <a:pPr marL="0" indent="0">
              <a:buNone/>
            </a:pPr>
            <a:endParaRPr lang="pl-PL" dirty="0"/>
          </a:p>
          <a:p>
            <a:r>
              <a:rPr lang="pl-PL" b="1" dirty="0"/>
              <a:t>Sygnaturę czasową (Timestamp):</a:t>
            </a:r>
            <a:r>
              <a:rPr lang="pl-PL" dirty="0"/>
              <a:t> Dokładny czas zdarzenia.</a:t>
            </a:r>
          </a:p>
          <a:p>
            <a:r>
              <a:rPr lang="pl-PL" b="1" dirty="0"/>
              <a:t>Źródło zdarzenia:</a:t>
            </a:r>
            <a:r>
              <a:rPr lang="pl-PL" dirty="0"/>
              <a:t> Nazwa urządzenia, serwera lub aplikacji.</a:t>
            </a:r>
          </a:p>
          <a:p>
            <a:r>
              <a:rPr lang="pl-PL" b="1" dirty="0"/>
              <a:t>Tożsamość:</a:t>
            </a:r>
            <a:r>
              <a:rPr lang="pl-PL" dirty="0"/>
              <a:t> Kto wykonał akcję (użytkownik, konto systemowe).</a:t>
            </a:r>
          </a:p>
          <a:p>
            <a:r>
              <a:rPr lang="pl-PL" b="1" dirty="0"/>
              <a:t>Adres IP:</a:t>
            </a:r>
            <a:r>
              <a:rPr lang="pl-PL" dirty="0"/>
              <a:t> Źródłowy adres IP użytkownika.</a:t>
            </a:r>
          </a:p>
          <a:p>
            <a:r>
              <a:rPr lang="pl-PL" b="1" dirty="0"/>
              <a:t>Opis zdarzenia:</a:t>
            </a:r>
            <a:r>
              <a:rPr lang="pl-PL" dirty="0"/>
              <a:t> Co dokładnie się stało (np. "Błędne hasło", "Plik usunięty")</a:t>
            </a:r>
          </a:p>
          <a:p>
            <a:pPr marL="0" indent="0">
              <a:buNone/>
            </a:pPr>
            <a:endParaRPr lang="pl-PL" dirty="0"/>
          </a:p>
        </p:txBody>
      </p:sp>
    </p:spTree>
    <p:extLst>
      <p:ext uri="{BB962C8B-B14F-4D97-AF65-F5344CB8AC3E}">
        <p14:creationId xmlns:p14="http://schemas.microsoft.com/office/powerpoint/2010/main" val="29877174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3F2A0-A649-D2C2-608F-07A0FF989F1F}"/>
              </a:ext>
            </a:extLst>
          </p:cNvPr>
          <p:cNvSpPr>
            <a:spLocks noGrp="1"/>
          </p:cNvSpPr>
          <p:nvPr>
            <p:ph type="title"/>
          </p:nvPr>
        </p:nvSpPr>
        <p:spPr>
          <a:xfrm>
            <a:off x="312907" y="365125"/>
            <a:ext cx="11353800" cy="1325563"/>
          </a:xfrm>
        </p:spPr>
        <p:txBody>
          <a:bodyPr/>
          <a:lstStyle/>
          <a:p>
            <a:r>
              <a:rPr lang="pl-PL" dirty="0"/>
              <a:t>Wykrywanie nietypowych zachowań użytkownika</a:t>
            </a:r>
          </a:p>
        </p:txBody>
      </p:sp>
      <p:sp>
        <p:nvSpPr>
          <p:cNvPr id="3" name="Content Placeholder 2">
            <a:extLst>
              <a:ext uri="{FF2B5EF4-FFF2-40B4-BE49-F238E27FC236}">
                <a16:creationId xmlns:a16="http://schemas.microsoft.com/office/drawing/2014/main" id="{623C68A0-98C8-67D6-EDAB-06609700CE81}"/>
              </a:ext>
            </a:extLst>
          </p:cNvPr>
          <p:cNvSpPr>
            <a:spLocks noGrp="1"/>
          </p:cNvSpPr>
          <p:nvPr>
            <p:ph idx="1"/>
          </p:nvPr>
        </p:nvSpPr>
        <p:spPr/>
        <p:txBody>
          <a:bodyPr>
            <a:normAutofit/>
          </a:bodyPr>
          <a:lstStyle/>
          <a:p>
            <a:r>
              <a:rPr lang="pl-PL" b="1" dirty="0"/>
              <a:t>Ustanowienie linii bazowej (Baseline):</a:t>
            </a:r>
            <a:r>
              <a:rPr lang="pl-PL" dirty="0"/>
              <a:t> System analizuje historyczne dane, aby zrozumieć, o której godzinie użytkownik zazwyczaj się loguje, do jakich plików ma dostęp, z jakiej lokalizacji korzysta i jakie urządzenia wykorzystuje.</a:t>
            </a:r>
          </a:p>
          <a:p>
            <a:r>
              <a:rPr lang="pl-PL" b="1" dirty="0"/>
              <a:t>Monitorowanie i analiza:</a:t>
            </a:r>
            <a:r>
              <a:rPr lang="pl-PL" dirty="0"/>
              <a:t> Narzędzia UEBA stale śledzą aktywność, szukając odchyleń od stworzonego modelu zachowań.</a:t>
            </a:r>
          </a:p>
          <a:p>
            <a:r>
              <a:rPr lang="pl-PL" b="1" dirty="0"/>
              <a:t>Wykrywanie anomalii:</a:t>
            </a:r>
            <a:r>
              <a:rPr lang="pl-PL" dirty="0"/>
              <a:t> System alarmuje o nietypowej aktywności, takiej jak logowanie z nowego kraju, pobieranie gigabajtów danych o 3:00 nad ranem lub próby uzyskania dostępu do zastrzeżonych plików.</a:t>
            </a:r>
          </a:p>
          <a:p>
            <a:r>
              <a:rPr lang="pl-PL" b="1" dirty="0"/>
              <a:t>Ocena ryzyka (Scoring):</a:t>
            </a:r>
            <a:r>
              <a:rPr lang="pl-PL" dirty="0"/>
              <a:t> Nietypowe zachowania są punktowane – im wyższy wynik (risk score), tym większe prawdopodobieństwo zagrożenia. </a:t>
            </a:r>
          </a:p>
          <a:p>
            <a:pPr marL="0" indent="0">
              <a:buNone/>
            </a:pPr>
            <a:endParaRPr lang="pl-PL" dirty="0"/>
          </a:p>
        </p:txBody>
      </p:sp>
    </p:spTree>
    <p:extLst>
      <p:ext uri="{BB962C8B-B14F-4D97-AF65-F5344CB8AC3E}">
        <p14:creationId xmlns:p14="http://schemas.microsoft.com/office/powerpoint/2010/main" val="2125716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p:cNvSpPr>
            <a:spLocks noGrp="1"/>
          </p:cNvSpPr>
          <p:nvPr>
            <p:ph type="title"/>
          </p:nvPr>
        </p:nvSpPr>
        <p:spPr>
          <a:xfrm>
            <a:off x="913795" y="397090"/>
            <a:ext cx="10353762" cy="970450"/>
          </a:xfrm>
        </p:spPr>
        <p:txBody>
          <a:bodyPr/>
          <a:lstStyle/>
          <a:p>
            <a:r>
              <a:rPr lang="pl-PL" dirty="0" smtClean="0"/>
              <a:t>Jakie zagrożenia można wykryć</a:t>
            </a:r>
            <a:endParaRPr lang="pl-PL" dirty="0"/>
          </a:p>
        </p:txBody>
      </p:sp>
      <p:sp>
        <p:nvSpPr>
          <p:cNvPr id="3" name="Symbol zastępczy zawartości 2"/>
          <p:cNvSpPr>
            <a:spLocks noGrp="1"/>
          </p:cNvSpPr>
          <p:nvPr>
            <p:ph idx="1"/>
          </p:nvPr>
        </p:nvSpPr>
        <p:spPr>
          <a:xfrm>
            <a:off x="913795" y="1267231"/>
            <a:ext cx="10353762" cy="946583"/>
          </a:xfrm>
        </p:spPr>
        <p:txBody>
          <a:bodyPr/>
          <a:lstStyle/>
          <a:p>
            <a:pPr marL="36900" indent="0">
              <a:buNone/>
            </a:pPr>
            <a:r>
              <a:rPr lang="pl-PL" dirty="0">
                <a:effectLst/>
              </a:rPr>
              <a:t>System SIEM pomaga wykrywać szerokie spektrum zagrożeń – od ataków zewnętrznych, takich jak </a:t>
            </a:r>
            <a:r>
              <a:rPr lang="pl-PL" b="1" dirty="0" err="1">
                <a:effectLst/>
              </a:rPr>
              <a:t>ransomware</a:t>
            </a:r>
            <a:r>
              <a:rPr lang="pl-PL" dirty="0">
                <a:effectLst/>
              </a:rPr>
              <a:t>, </a:t>
            </a:r>
            <a:r>
              <a:rPr lang="pl-PL" dirty="0" err="1">
                <a:effectLst/>
              </a:rPr>
              <a:t>phishing</a:t>
            </a:r>
            <a:r>
              <a:rPr lang="pl-PL" dirty="0">
                <a:effectLst/>
              </a:rPr>
              <a:t> czy </a:t>
            </a:r>
            <a:r>
              <a:rPr lang="pl-PL" dirty="0" err="1">
                <a:effectLst/>
              </a:rPr>
              <a:t>DDoS</a:t>
            </a:r>
            <a:r>
              <a:rPr lang="pl-PL" dirty="0">
                <a:effectLst/>
              </a:rPr>
              <a:t>, po wewnętrzne naruszenia bezpieczeństwa.</a:t>
            </a:r>
            <a:endParaRPr lang="pl-PL" dirty="0"/>
          </a:p>
        </p:txBody>
      </p:sp>
      <p:sp>
        <p:nvSpPr>
          <p:cNvPr id="4" name="Tytuł 1"/>
          <p:cNvSpPr txBox="1">
            <a:spLocks/>
          </p:cNvSpPr>
          <p:nvPr/>
        </p:nvSpPr>
        <p:spPr>
          <a:xfrm>
            <a:off x="913795" y="2093498"/>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pl-PL" dirty="0" smtClean="0"/>
              <a:t>Wyzwania związane z tym systemem</a:t>
            </a:r>
            <a:endParaRPr lang="pl-PL" dirty="0"/>
          </a:p>
        </p:txBody>
      </p:sp>
      <p:sp>
        <p:nvSpPr>
          <p:cNvPr id="5" name="Symbol zastępczy zawartości 2"/>
          <p:cNvSpPr txBox="1">
            <a:spLocks/>
          </p:cNvSpPr>
          <p:nvPr/>
        </p:nvSpPr>
        <p:spPr>
          <a:xfrm>
            <a:off x="401052" y="2939772"/>
            <a:ext cx="11534273" cy="3918228"/>
          </a:xfrm>
          <a:prstGeom prst="rect">
            <a:avLst/>
          </a:prstGeom>
          <a:effectLst>
            <a:outerShdw blurRad="25400" dir="17880000">
              <a:srgbClr val="000000">
                <a:alpha val="46000"/>
              </a:srgbClr>
            </a:outerShdw>
          </a:effectLst>
        </p:spPr>
        <p:txBody>
          <a:bodyPr vert="horz" lIns="91440" tIns="45720" rIns="91440" bIns="45720" rtlCol="0" anchor="t">
            <a:normAutofit fontScale="92500" lnSpcReduction="20000"/>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pl-PL" b="1" dirty="0">
                <a:effectLst/>
              </a:rPr>
              <a:t>Złożoność:</a:t>
            </a:r>
            <a:r>
              <a:rPr lang="pl-PL" dirty="0">
                <a:effectLst/>
              </a:rPr>
              <a:t> Rozwiązania te wymagają skomplikowanej konfiguracji, integracji z wieloma źródłami danych oraz stałego dostrajania reguł, co jest czasochłonne.</a:t>
            </a:r>
          </a:p>
          <a:p>
            <a:r>
              <a:rPr lang="pl-PL" b="1" dirty="0">
                <a:effectLst/>
              </a:rPr>
              <a:t>Wysokie koszty:</a:t>
            </a:r>
            <a:r>
              <a:rPr lang="pl-PL" dirty="0">
                <a:effectLst/>
              </a:rPr>
              <a:t> Problemem są potencjalnie wysokie koszty licencji i infrastruktury niezbędnej do przetwarzania oraz przechowywania danych.</a:t>
            </a:r>
          </a:p>
          <a:p>
            <a:r>
              <a:rPr lang="pl-PL" b="1" dirty="0">
                <a:effectLst/>
              </a:rPr>
              <a:t>Fałszywe alarmy:</a:t>
            </a:r>
            <a:r>
              <a:rPr lang="pl-PL" dirty="0">
                <a:effectLst/>
              </a:rPr>
              <a:t> Systemy SIEM mogą generować dużą liczbę fałszywych alarmów, co prowadzi do przeciążenia zespołu SOC i obniża jego efektywność. W branży </a:t>
            </a:r>
            <a:r>
              <a:rPr lang="pl-PL" dirty="0" err="1">
                <a:effectLst/>
              </a:rPr>
              <a:t>cyberbezpieczeństwa</a:t>
            </a:r>
            <a:r>
              <a:rPr lang="pl-PL" dirty="0">
                <a:effectLst/>
              </a:rPr>
              <a:t> 'alert </a:t>
            </a:r>
            <a:r>
              <a:rPr lang="pl-PL" dirty="0" err="1">
                <a:effectLst/>
              </a:rPr>
              <a:t>fatigue</a:t>
            </a:r>
            <a:r>
              <a:rPr lang="pl-PL" dirty="0">
                <a:effectLst/>
              </a:rPr>
              <a:t>’ jest powszechnie uznawane za jedno z głównych </a:t>
            </a:r>
            <a:r>
              <a:rPr lang="pl-PL" dirty="0" err="1">
                <a:effectLst/>
              </a:rPr>
              <a:t>ryzyk</a:t>
            </a:r>
            <a:r>
              <a:rPr lang="pl-PL" dirty="0">
                <a:effectLst/>
              </a:rPr>
              <a:t> operacyjnych. Aby uchronić przed nim zespoły, z którymi pracuję, w procesie optymalizacji zawsze zwracam szczególną uwagę na precyzję reguł korelacyjnych. Dzięki temu analitycy otrzymują wyłącznie wartościowe powiadomienia, co pozwala im utrzymać wysoką koncentrację na realnych zagrożeniach. Rozwiązaniem jest wykorzystanie AI do </a:t>
            </a:r>
            <a:r>
              <a:rPr lang="pl-PL" dirty="0" err="1">
                <a:effectLst/>
              </a:rPr>
              <a:t>priorytetyzacji</a:t>
            </a:r>
            <a:r>
              <a:rPr lang="pl-PL" dirty="0">
                <a:effectLst/>
              </a:rPr>
              <a:t> zagrożeń na podstawie analizy ryzyka, co oferują nowoczesne platformy klasy </a:t>
            </a:r>
            <a:r>
              <a:rPr lang="pl-PL" dirty="0" err="1">
                <a:effectLst/>
              </a:rPr>
              <a:t>Next</a:t>
            </a:r>
            <a:r>
              <a:rPr lang="pl-PL" dirty="0">
                <a:effectLst/>
              </a:rPr>
              <a:t>-Gen SIEM.</a:t>
            </a:r>
          </a:p>
          <a:p>
            <a:r>
              <a:rPr lang="pl-PL" b="1" dirty="0">
                <a:effectLst/>
              </a:rPr>
              <a:t>Zasoby ludzkie:</a:t>
            </a:r>
            <a:r>
              <a:rPr lang="pl-PL" dirty="0">
                <a:effectLst/>
              </a:rPr>
              <a:t> Skuteczna obsługa SIEM wymaga wykwalifikowanych analityków. Muszą oni potrafić zarządzać narzędziem, poprawnie interpretować jego wyniki i reagować na realne zagrożenia.</a:t>
            </a:r>
          </a:p>
        </p:txBody>
      </p:sp>
    </p:spTree>
    <p:extLst>
      <p:ext uri="{BB962C8B-B14F-4D97-AF65-F5344CB8AC3E}">
        <p14:creationId xmlns:p14="http://schemas.microsoft.com/office/powerpoint/2010/main" val="568374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TM04033929[[fn=Slate]]</Template>
  <TotalTime>52</TotalTime>
  <Words>39</Words>
  <Application>Microsoft Office PowerPoint</Application>
  <PresentationFormat>Panoramiczny</PresentationFormat>
  <Paragraphs>25</Paragraphs>
  <Slides>4</Slides>
  <Notes>0</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4</vt:i4>
      </vt:variant>
    </vt:vector>
  </HeadingPairs>
  <TitlesOfParts>
    <vt:vector size="8" baseType="lpstr">
      <vt:lpstr>Calisto MT</vt:lpstr>
      <vt:lpstr>Trebuchet MS</vt:lpstr>
      <vt:lpstr>Wingdings 2</vt:lpstr>
      <vt:lpstr>Slate</vt:lpstr>
      <vt:lpstr>System logów bezpieczeństwa + Wykrywanie nietypowych zachowań użytkownika</vt:lpstr>
      <vt:lpstr>System logów bezpieczeństwa</vt:lpstr>
      <vt:lpstr>Wykrywanie nietypowych zachowań użytkownika</vt:lpstr>
      <vt:lpstr>Jakie zagrożenia można wykryć</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System logów bezpieczeństwa + Wykrywanie nietypowych zachowań użytkownika</dc:title>
  <dc:creator>Mateusz Żniwiarz</dc:creator>
  <cp:lastModifiedBy>Mateusz Janiszewski</cp:lastModifiedBy>
  <cp:revision>6</cp:revision>
  <dcterms:created xsi:type="dcterms:W3CDTF">2026-03-16T22:30:26Z</dcterms:created>
  <dcterms:modified xsi:type="dcterms:W3CDTF">2026-03-17T07:42:06Z</dcterms:modified>
</cp:coreProperties>
</file>